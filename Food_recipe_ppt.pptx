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9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78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kkana Manjula" userId="7ba44831e8f0e3a3" providerId="LiveId" clId="{3FCAB053-EB5C-4693-A459-388724460D41}"/>
    <pc:docChg chg="custSel modSld">
      <pc:chgData name="Jakkana Manjula" userId="7ba44831e8f0e3a3" providerId="LiveId" clId="{3FCAB053-EB5C-4693-A459-388724460D41}" dt="2026-09-24T15:37:11.712" v="312" actId="1440"/>
      <pc:docMkLst>
        <pc:docMk/>
      </pc:docMkLst>
      <pc:sldChg chg="modSp mod">
        <pc:chgData name="Jakkana Manjula" userId="7ba44831e8f0e3a3" providerId="LiveId" clId="{3FCAB053-EB5C-4693-A459-388724460D41}" dt="2026-09-24T15:25:15.271" v="12" actId="20577"/>
        <pc:sldMkLst>
          <pc:docMk/>
          <pc:sldMk cId="0" sldId="256"/>
        </pc:sldMkLst>
        <pc:spChg chg="mod">
          <ac:chgData name="Jakkana Manjula" userId="7ba44831e8f0e3a3" providerId="LiveId" clId="{3FCAB053-EB5C-4693-A459-388724460D41}" dt="2026-09-24T15:25:15.271" v="12" actId="20577"/>
          <ac:spMkLst>
            <pc:docMk/>
            <pc:sldMk cId="0" sldId="256"/>
            <ac:spMk id="10" creationId="{00000000-0000-0000-0000-000000000000}"/>
          </ac:spMkLst>
        </pc:spChg>
      </pc:sldChg>
      <pc:sldChg chg="addSp delSp modSp mod">
        <pc:chgData name="Jakkana Manjula" userId="7ba44831e8f0e3a3" providerId="LiveId" clId="{3FCAB053-EB5C-4693-A459-388724460D41}" dt="2026-09-24T15:37:11.712" v="312" actId="1440"/>
        <pc:sldMkLst>
          <pc:docMk/>
          <pc:sldMk cId="0" sldId="259"/>
        </pc:sldMkLst>
        <pc:spChg chg="del mod">
          <ac:chgData name="Jakkana Manjula" userId="7ba44831e8f0e3a3" providerId="LiveId" clId="{3FCAB053-EB5C-4693-A459-388724460D41}" dt="2026-09-24T15:27:09.040" v="300"/>
          <ac:spMkLst>
            <pc:docMk/>
            <pc:sldMk cId="0" sldId="259"/>
            <ac:spMk id="23" creationId="{00000000-0000-0000-0000-000000000000}"/>
          </ac:spMkLst>
        </pc:spChg>
        <pc:spChg chg="del">
          <ac:chgData name="Jakkana Manjula" userId="7ba44831e8f0e3a3" providerId="LiveId" clId="{3FCAB053-EB5C-4693-A459-388724460D41}" dt="2026-09-24T15:26:33.117" v="118" actId="21"/>
          <ac:spMkLst>
            <pc:docMk/>
            <pc:sldMk cId="0" sldId="259"/>
            <ac:spMk id="24" creationId="{00000000-0000-0000-0000-000000000000}"/>
          </ac:spMkLst>
        </pc:spChg>
        <pc:spChg chg="del">
          <ac:chgData name="Jakkana Manjula" userId="7ba44831e8f0e3a3" providerId="LiveId" clId="{3FCAB053-EB5C-4693-A459-388724460D41}" dt="2026-09-24T15:26:37.633" v="121" actId="21"/>
          <ac:spMkLst>
            <pc:docMk/>
            <pc:sldMk cId="0" sldId="259"/>
            <ac:spMk id="25" creationId="{00000000-0000-0000-0000-000000000000}"/>
          </ac:spMkLst>
        </pc:spChg>
        <pc:spChg chg="del">
          <ac:chgData name="Jakkana Manjula" userId="7ba44831e8f0e3a3" providerId="LiveId" clId="{3FCAB053-EB5C-4693-A459-388724460D41}" dt="2026-09-24T15:26:17.669" v="13" actId="478"/>
          <ac:spMkLst>
            <pc:docMk/>
            <pc:sldMk cId="0" sldId="259"/>
            <ac:spMk id="26" creationId="{00000000-0000-0000-0000-000000000000}"/>
          </ac:spMkLst>
        </pc:spChg>
        <pc:spChg chg="del mod">
          <ac:chgData name="Jakkana Manjula" userId="7ba44831e8f0e3a3" providerId="LiveId" clId="{3FCAB053-EB5C-4693-A459-388724460D41}" dt="2026-09-24T15:26:33.153" v="120"/>
          <ac:spMkLst>
            <pc:docMk/>
            <pc:sldMk cId="0" sldId="259"/>
            <ac:spMk id="27" creationId="{00000000-0000-0000-0000-000000000000}"/>
          </ac:spMkLst>
        </pc:spChg>
        <pc:picChg chg="add mod">
          <ac:chgData name="Jakkana Manjula" userId="7ba44831e8f0e3a3" providerId="LiveId" clId="{3FCAB053-EB5C-4693-A459-388724460D41}" dt="2026-09-24T15:37:11.712" v="312" actId="1440"/>
          <ac:picMkLst>
            <pc:docMk/>
            <pc:sldMk cId="0" sldId="259"/>
            <ac:picMk id="30" creationId="{424EBB72-1482-1A82-1075-1EA06896E019}"/>
          </ac:picMkLst>
        </pc:picChg>
      </pc:sldChg>
      <pc:sldChg chg="modSp mod">
        <pc:chgData name="Jakkana Manjula" userId="7ba44831e8f0e3a3" providerId="LiveId" clId="{3FCAB053-EB5C-4693-A459-388724460D41}" dt="2026-09-24T15:28:36.317" v="303" actId="14100"/>
        <pc:sldMkLst>
          <pc:docMk/>
          <pc:sldMk cId="0" sldId="264"/>
        </pc:sldMkLst>
        <pc:picChg chg="mod">
          <ac:chgData name="Jakkana Manjula" userId="7ba44831e8f0e3a3" providerId="LiveId" clId="{3FCAB053-EB5C-4693-A459-388724460D41}" dt="2026-09-24T15:28:36.317" v="303" actId="14100"/>
          <ac:picMkLst>
            <pc:docMk/>
            <pc:sldMk cId="0" sldId="264"/>
            <ac:picMk id="11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58521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500" b="1">
                <a:solidFill>
                  <a:srgbClr val="30231D"/>
                </a:solidFill>
                <a:latin typeface="Aptos Display"/>
              </a:rPr>
              <a:t>THE FOOD
RECIPE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487168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6F4934"/>
                </a:solidFill>
                <a:latin typeface="Aptos"/>
              </a:rPr>
              <a:t>Discover Food. Discover Happiness.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06324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706057"/>
                </a:solidFill>
                <a:latin typeface="Aptos"/>
              </a:rPr>
              <a:t>An interactive recipe discovery and sharing website built with HTML, CSS and JavaScript.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977639"/>
            <a:ext cx="51663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FE0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4206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5B31"/>
                </a:solidFill>
                <a:latin typeface="Aptos"/>
              </a:rPr>
              <a:t>TEAM MEMBERS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0776" y="4572000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30231D"/>
                </a:solidFill>
                <a:latin typeface="Aptos"/>
              </a:rPr>
              <a:t>ID: </a:t>
            </a:r>
            <a:r>
              <a:rPr lang="en-US" sz="1200" dirty="0">
                <a:solidFill>
                  <a:srgbClr val="30231D"/>
                </a:solidFill>
                <a:latin typeface="Aptos"/>
              </a:rPr>
              <a:t>2500030862</a:t>
            </a:r>
            <a:r>
              <a:rPr sz="1200" b="0" dirty="0">
                <a:solidFill>
                  <a:srgbClr val="30231D"/>
                </a:solidFill>
                <a:latin typeface="Aptos"/>
              </a:rPr>
              <a:t>   Name: </a:t>
            </a:r>
            <a:r>
              <a:rPr lang="en-US" sz="1200" dirty="0">
                <a:solidFill>
                  <a:srgbClr val="30231D"/>
                </a:solidFill>
                <a:latin typeface="Aptos"/>
              </a:rPr>
              <a:t>P. Keerthana</a:t>
            </a:r>
            <a:endParaRPr sz="1200" b="0" dirty="0">
              <a:solidFill>
                <a:srgbClr val="30231D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4956048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30231D"/>
                </a:solidFill>
                <a:latin typeface="Aptos"/>
              </a:rPr>
              <a:t>ID: </a:t>
            </a:r>
            <a:r>
              <a:rPr lang="en-US" sz="1200" b="0" dirty="0">
                <a:solidFill>
                  <a:srgbClr val="30231D"/>
                </a:solidFill>
                <a:latin typeface="Aptos"/>
              </a:rPr>
              <a:t>2500031665</a:t>
            </a:r>
            <a:r>
              <a:rPr sz="1200" b="0" dirty="0">
                <a:solidFill>
                  <a:srgbClr val="30231D"/>
                </a:solidFill>
                <a:latin typeface="Aptos"/>
              </a:rPr>
              <a:t>  Name: </a:t>
            </a:r>
            <a:r>
              <a:rPr lang="en-US" sz="1200" b="0" dirty="0" err="1">
                <a:solidFill>
                  <a:srgbClr val="30231D"/>
                </a:solidFill>
                <a:latin typeface="Aptos"/>
              </a:rPr>
              <a:t>T.Lashwanthi</a:t>
            </a:r>
            <a:endParaRPr sz="1200" b="0" dirty="0">
              <a:solidFill>
                <a:srgbClr val="30231D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4400" y="5340096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30231D"/>
                </a:solidFill>
                <a:latin typeface="Aptos"/>
              </a:rPr>
              <a:t>ID: </a:t>
            </a:r>
            <a:r>
              <a:rPr lang="en-US" sz="1200" b="0" dirty="0">
                <a:solidFill>
                  <a:srgbClr val="30231D"/>
                </a:solidFill>
                <a:latin typeface="Aptos"/>
              </a:rPr>
              <a:t>2500032222</a:t>
            </a:r>
            <a:r>
              <a:rPr sz="1200" b="0" dirty="0">
                <a:solidFill>
                  <a:srgbClr val="30231D"/>
                </a:solidFill>
                <a:latin typeface="Aptos"/>
              </a:rPr>
              <a:t>   Name: </a:t>
            </a:r>
            <a:r>
              <a:rPr lang="en-US" sz="1200" b="0" dirty="0">
                <a:solidFill>
                  <a:srgbClr val="30231D"/>
                </a:solidFill>
                <a:latin typeface="Aptos"/>
              </a:rPr>
              <a:t>J. D. </a:t>
            </a:r>
            <a:r>
              <a:rPr lang="en-US" sz="1200" b="0">
                <a:solidFill>
                  <a:srgbClr val="30231D"/>
                </a:solidFill>
                <a:latin typeface="Aptos"/>
              </a:rPr>
              <a:t>Manjula</a:t>
            </a:r>
            <a:endParaRPr sz="1200" b="0" dirty="0">
              <a:solidFill>
                <a:srgbClr val="30231D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484467" y="685800"/>
            <a:ext cx="507492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EFE0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06057"/>
                </a:solidFill>
                <a:latin typeface="Aptos"/>
              </a:rPr>
              <a:t>THE FOOD RECIPE  •  Project Review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F03C21A-6DE0-85C7-9E55-84634AD011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2936" y="1389185"/>
            <a:ext cx="4519556" cy="395091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5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30231D"/>
                </a:solidFill>
                <a:latin typeface="Aptos Display"/>
              </a:rPr>
              <a:t>2. Project Theme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706057"/>
                </a:solidFill>
                <a:latin typeface="Aptos"/>
              </a:rPr>
              <a:t>A simple idea: make discovering and sharing recipes easy, visual and interactive.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38404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55B31"/>
                </a:solidFill>
                <a:latin typeface="Apto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25880"/>
            <a:ext cx="6492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55B31"/>
                </a:solidFill>
                <a:latin typeface="Aptos"/>
              </a:rPr>
              <a:t>Discover Food. Discover Happiness.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1874519"/>
            <a:ext cx="6217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0231D"/>
                </a:solidFill>
                <a:latin typeface="Aptos"/>
              </a:rPr>
              <a:t>The Food Recipe is a client-side web application that helps people discover recipes, search by ingredients or categories, view step-by-step preparation, save favourites and share their own recipes.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880360"/>
            <a:ext cx="3383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FE0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2880360"/>
            <a:ext cx="64008" cy="1234440"/>
          </a:xfrm>
          <a:prstGeom prst="rect">
            <a:avLst/>
          </a:prstGeom>
          <a:solidFill>
            <a:srgbClr val="F55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1" y="3008376"/>
            <a:ext cx="3090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0231D"/>
                </a:solidFill>
                <a:latin typeface="Aptos"/>
              </a:rPr>
              <a:t>Problem addressed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3401568"/>
            <a:ext cx="309067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706057"/>
                </a:solidFill>
                <a:latin typeface="Aptos"/>
              </a:rPr>
              <a:t>Finding a suitable recipe can take time when recipes are scattered across different sources.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2880360"/>
            <a:ext cx="3383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FE0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51960" y="2880360"/>
            <a:ext cx="64008" cy="1234440"/>
          </a:xfrm>
          <a:prstGeom prst="rect">
            <a:avLst/>
          </a:prstGeom>
          <a:solidFill>
            <a:srgbClr val="417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16552" y="3008376"/>
            <a:ext cx="3090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0231D"/>
                </a:solidFill>
                <a:latin typeface="Aptos"/>
              </a:rPr>
              <a:t>Our 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6552" y="3401568"/>
            <a:ext cx="309067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706057"/>
                </a:solidFill>
                <a:latin typeface="Aptos"/>
              </a:rPr>
              <a:t>One organized interface with search, categories, craving filters, ingredient matching and recipe details.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343400"/>
            <a:ext cx="3383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FE0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" y="4343400"/>
            <a:ext cx="64008" cy="1234440"/>
          </a:xfrm>
          <a:prstGeom prst="rect">
            <a:avLst/>
          </a:prstGeom>
          <a:solidFill>
            <a:srgbClr val="6F49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1" y="4471416"/>
            <a:ext cx="3090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0231D"/>
                </a:solidFill>
                <a:latin typeface="Aptos"/>
              </a:rPr>
              <a:t>Community idea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1" y="4864608"/>
            <a:ext cx="309067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706057"/>
                </a:solidFill>
                <a:latin typeface="Aptos"/>
              </a:rPr>
              <a:t>Users can submit recipes, rate existing recipes and leave reviews.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4343400"/>
            <a:ext cx="3383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FE0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251960" y="4343400"/>
            <a:ext cx="64008" cy="1234440"/>
          </a:xfrm>
          <a:prstGeom prst="rect">
            <a:avLst/>
          </a:prstGeom>
          <a:solidFill>
            <a:srgbClr val="F55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16552" y="4471416"/>
            <a:ext cx="3090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0231D"/>
                </a:solidFill>
                <a:latin typeface="Aptos"/>
              </a:rPr>
              <a:t>Personalization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6552" y="4864608"/>
            <a:ext cx="309067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706057"/>
                </a:solidFill>
                <a:latin typeface="Aptos"/>
              </a:rPr>
              <a:t>Favourites and user access make the experience more personal.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2440" y="13258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0231D"/>
                </a:solidFill>
                <a:latin typeface="Aptos"/>
              </a:rPr>
              <a:t>CORE TECHNOLOGIES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1783080"/>
            <a:ext cx="34747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FE0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046720" y="1783080"/>
            <a:ext cx="64008" cy="868680"/>
          </a:xfrm>
          <a:prstGeom prst="rect">
            <a:avLst/>
          </a:prstGeom>
          <a:solidFill>
            <a:srgbClr val="F55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11312" y="1911095"/>
            <a:ext cx="31821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0231D"/>
                </a:solidFill>
                <a:latin typeface="Aptos"/>
              </a:rPr>
              <a:t>HTML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11312" y="2304288"/>
            <a:ext cx="318211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706057"/>
                </a:solidFill>
                <a:latin typeface="Aptos"/>
              </a:rPr>
              <a:t>Page structure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20" y="2834639"/>
            <a:ext cx="34747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FE0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046720" y="2834639"/>
            <a:ext cx="64008" cy="868680"/>
          </a:xfrm>
          <a:prstGeom prst="rect">
            <a:avLst/>
          </a:prstGeom>
          <a:solidFill>
            <a:srgbClr val="417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11312" y="2962656"/>
            <a:ext cx="31821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0231D"/>
                </a:solidFill>
                <a:latin typeface="Aptos"/>
              </a:rPr>
              <a:t>CSS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11312" y="3355847"/>
            <a:ext cx="318211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706057"/>
                </a:solidFill>
                <a:latin typeface="Aptos"/>
              </a:rPr>
              <a:t>Design + responsive layout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46720" y="3886200"/>
            <a:ext cx="34747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FE0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046720" y="3886200"/>
            <a:ext cx="64008" cy="868680"/>
          </a:xfrm>
          <a:prstGeom prst="rect">
            <a:avLst/>
          </a:prstGeom>
          <a:solidFill>
            <a:srgbClr val="6F49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211312" y="4014215"/>
            <a:ext cx="31821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0231D"/>
                </a:solidFill>
                <a:latin typeface="Aptos"/>
              </a:rPr>
              <a:t>JavaScript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11312" y="4407408"/>
            <a:ext cx="318211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706057"/>
                </a:solidFill>
                <a:latin typeface="Aptos"/>
              </a:rPr>
              <a:t>Interaction + logic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46720" y="4937759"/>
            <a:ext cx="34747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FE0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046720" y="4937759"/>
            <a:ext cx="64008" cy="868680"/>
          </a:xfrm>
          <a:prstGeom prst="rect">
            <a:avLst/>
          </a:prstGeom>
          <a:solidFill>
            <a:srgbClr val="F55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211312" y="5065775"/>
            <a:ext cx="31821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0231D"/>
                </a:solidFill>
                <a:latin typeface="Aptos"/>
              </a:rPr>
              <a:t>Local Storage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11312" y="5458968"/>
            <a:ext cx="3182112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706057"/>
                </a:solidFill>
                <a:latin typeface="Aptos"/>
              </a:rPr>
              <a:t>Browser-side persistence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06057"/>
                </a:solidFill>
                <a:latin typeface="Aptos"/>
              </a:rPr>
              <a:t>THE FOOD RECIPE  •  Project Review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5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30231D"/>
                </a:solidFill>
                <a:latin typeface="Aptos Display"/>
              </a:rPr>
              <a:t>3. User / Customer Role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706057"/>
                </a:solidFill>
                <a:latin typeface="Aptos"/>
              </a:rPr>
              <a:t>The customer is the person who uses the website to discover and enjoy recipes.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38404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55B31"/>
                </a:solidFill>
                <a:latin typeface="Aptos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344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0231D"/>
                </a:solidFill>
                <a:latin typeface="Aptos"/>
              </a:rPr>
              <a:t>What the user can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83080"/>
            <a:ext cx="5577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20">
                <a:solidFill>
                  <a:srgbClr val="30231D"/>
                </a:solidFill>
                <a:latin typeface="Aptos"/>
              </a:defRPr>
            </a:pPr>
            <a:r>
              <a:t>•  Login to access protected website features.</a:t>
            </a:r>
          </a:p>
          <a:p>
            <a:pPr>
              <a:spcAft>
                <a:spcPts val="700"/>
              </a:spcAft>
              <a:defRPr sz="1320">
                <a:solidFill>
                  <a:srgbClr val="30231D"/>
                </a:solidFill>
                <a:latin typeface="Aptos"/>
              </a:defRPr>
            </a:pPr>
            <a:r>
              <a:t>•  Search recipes by recipe name, category or available ingredients.</a:t>
            </a:r>
          </a:p>
          <a:p>
            <a:pPr>
              <a:spcAft>
                <a:spcPts val="700"/>
              </a:spcAft>
              <a:defRPr sz="1320">
                <a:solidFill>
                  <a:srgbClr val="30231D"/>
                </a:solidFill>
                <a:latin typeface="Aptos"/>
              </a:defRPr>
            </a:pPr>
            <a:r>
              <a:t>•  Use craving buttons such as Spicy, Cheesy, Sweet and Surprise Me.</a:t>
            </a:r>
          </a:p>
          <a:p>
            <a:pPr>
              <a:spcAft>
                <a:spcPts val="700"/>
              </a:spcAft>
              <a:defRPr sz="1320">
                <a:solidFill>
                  <a:srgbClr val="30231D"/>
                </a:solidFill>
                <a:latin typeface="Aptos"/>
              </a:defRPr>
            </a:pPr>
            <a:r>
              <a:t>•  Browse cuisine/category collections such as Indian, Italian, Fast Food, Desserts and Healthy.</a:t>
            </a:r>
          </a:p>
          <a:p>
            <a:pPr>
              <a:spcAft>
                <a:spcPts val="700"/>
              </a:spcAft>
              <a:defRPr sz="1320">
                <a:solidFill>
                  <a:srgbClr val="30231D"/>
                </a:solidFill>
                <a:latin typeface="Aptos"/>
              </a:defRPr>
            </a:pPr>
            <a:r>
              <a:t>•  Open a recipe to see ingredients, preparation time and step-by-step instructions.</a:t>
            </a:r>
          </a:p>
          <a:p>
            <a:pPr>
              <a:spcAft>
                <a:spcPts val="700"/>
              </a:spcAft>
              <a:defRPr sz="1320">
                <a:solidFill>
                  <a:srgbClr val="30231D"/>
                </a:solidFill>
                <a:latin typeface="Aptos"/>
              </a:defRPr>
            </a:pPr>
            <a:r>
              <a:t>•  Add recipes to Favourites and view the saved collection.</a:t>
            </a:r>
          </a:p>
          <a:p>
            <a:pPr>
              <a:spcAft>
                <a:spcPts val="700"/>
              </a:spcAft>
              <a:defRPr sz="1320">
                <a:solidFill>
                  <a:srgbClr val="30231D"/>
                </a:solidFill>
                <a:latin typeface="Aptos"/>
              </a:defRPr>
            </a:pPr>
            <a:r>
              <a:t>•  Give ratings and write reviews.</a:t>
            </a:r>
          </a:p>
          <a:p>
            <a:pPr>
              <a:spcAft>
                <a:spcPts val="700"/>
              </a:spcAft>
              <a:defRPr sz="1320">
                <a:solidFill>
                  <a:srgbClr val="30231D"/>
                </a:solidFill>
                <a:latin typeface="Aptos"/>
              </a:defRPr>
            </a:pPr>
            <a:r>
              <a:t>•  Submit/share a new recipe with an image and instructions.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123444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0231D"/>
                </a:solidFill>
                <a:latin typeface="Aptos"/>
              </a:rPr>
              <a:t>Typical customer flow</a:t>
            </a:r>
          </a:p>
        </p:txBody>
      </p:sp>
      <p:sp>
        <p:nvSpPr>
          <p:cNvPr id="10" name="Oval 9"/>
          <p:cNvSpPr/>
          <p:nvPr/>
        </p:nvSpPr>
        <p:spPr>
          <a:xfrm>
            <a:off x="6720840" y="1828800"/>
            <a:ext cx="457200" cy="457200"/>
          </a:xfrm>
          <a:prstGeom prst="ellipse">
            <a:avLst/>
          </a:prstGeom>
          <a:solidFill>
            <a:srgbClr val="F55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20840" y="1892807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1874519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0231D"/>
                </a:solidFill>
                <a:latin typeface="Aptos"/>
              </a:rPr>
              <a:t>Login</a:t>
            </a:r>
          </a:p>
        </p:txBody>
      </p:sp>
      <p:sp>
        <p:nvSpPr>
          <p:cNvPr id="13" name="Oval 12"/>
          <p:cNvSpPr/>
          <p:nvPr/>
        </p:nvSpPr>
        <p:spPr>
          <a:xfrm>
            <a:off x="6720840" y="2578608"/>
            <a:ext cx="457200" cy="457200"/>
          </a:xfrm>
          <a:prstGeom prst="ellipse">
            <a:avLst/>
          </a:prstGeom>
          <a:solidFill>
            <a:srgbClr val="F55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20840" y="2642615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20" y="2624327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0231D"/>
                </a:solidFill>
                <a:latin typeface="Aptos"/>
              </a:rPr>
              <a:t>Search / Filter</a:t>
            </a:r>
          </a:p>
        </p:txBody>
      </p:sp>
      <p:sp>
        <p:nvSpPr>
          <p:cNvPr id="16" name="Oval 15"/>
          <p:cNvSpPr/>
          <p:nvPr/>
        </p:nvSpPr>
        <p:spPr>
          <a:xfrm>
            <a:off x="6720840" y="3328415"/>
            <a:ext cx="457200" cy="457200"/>
          </a:xfrm>
          <a:prstGeom prst="ellipse">
            <a:avLst/>
          </a:prstGeom>
          <a:solidFill>
            <a:srgbClr val="F55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20840" y="3392423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3374135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0231D"/>
                </a:solidFill>
                <a:latin typeface="Aptos"/>
              </a:rPr>
              <a:t>View Recipe</a:t>
            </a:r>
          </a:p>
        </p:txBody>
      </p:sp>
      <p:sp>
        <p:nvSpPr>
          <p:cNvPr id="19" name="Oval 18"/>
          <p:cNvSpPr/>
          <p:nvPr/>
        </p:nvSpPr>
        <p:spPr>
          <a:xfrm>
            <a:off x="6720840" y="4078224"/>
            <a:ext cx="457200" cy="457200"/>
          </a:xfrm>
          <a:prstGeom prst="ellipse">
            <a:avLst/>
          </a:prstGeom>
          <a:solidFill>
            <a:srgbClr val="F55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720840" y="414223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412394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0231D"/>
                </a:solidFill>
                <a:latin typeface="Aptos"/>
              </a:rPr>
              <a:t>Favourite / Review</a:t>
            </a:r>
          </a:p>
        </p:txBody>
      </p:sp>
      <p:sp>
        <p:nvSpPr>
          <p:cNvPr id="22" name="Oval 21"/>
          <p:cNvSpPr/>
          <p:nvPr/>
        </p:nvSpPr>
        <p:spPr>
          <a:xfrm>
            <a:off x="6720840" y="4828031"/>
            <a:ext cx="457200" cy="457200"/>
          </a:xfrm>
          <a:prstGeom prst="ellipse">
            <a:avLst/>
          </a:prstGeom>
          <a:solidFill>
            <a:srgbClr val="F55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720840" y="48920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4873751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0231D"/>
                </a:solidFill>
                <a:latin typeface="Aptos"/>
              </a:rPr>
              <a:t>Share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29400" y="5623560"/>
            <a:ext cx="466344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FE0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629400" y="5623560"/>
            <a:ext cx="64008" cy="594360"/>
          </a:xfrm>
          <a:prstGeom prst="rect">
            <a:avLst/>
          </a:prstGeom>
          <a:solidFill>
            <a:srgbClr val="417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793992" y="5751576"/>
            <a:ext cx="437083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0231D"/>
                </a:solidFill>
                <a:latin typeface="Aptos"/>
              </a:rPr>
              <a:t>In one sentence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93992" y="6144768"/>
            <a:ext cx="4370831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706057"/>
                </a:solidFill>
                <a:latin typeface="Aptos"/>
              </a:rPr>
              <a:t>User = consumes, searches, saves, reviews and contributes recipes.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06057"/>
                </a:solidFill>
                <a:latin typeface="Aptos"/>
              </a:rPr>
              <a:t>THE FOOD RECIPE  •  Project Review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5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30231D"/>
                </a:solidFill>
                <a:latin typeface="Aptos Display"/>
              </a:rPr>
              <a:t>4. Admin Role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706057"/>
                </a:solidFill>
                <a:latin typeface="Aptos"/>
              </a:rPr>
              <a:t>Management-side responsibility for controlling the recipe platform.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38404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55B31"/>
                </a:solidFill>
                <a:latin typeface="Aptos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3444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0231D"/>
                </a:solidFill>
                <a:latin typeface="Aptos"/>
              </a:rPr>
              <a:t>What an admin would manage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83080"/>
            <a:ext cx="5715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20">
                <a:solidFill>
                  <a:srgbClr val="30231D"/>
                </a:solidFill>
                <a:latin typeface="Aptos"/>
              </a:defRPr>
            </a:pPr>
            <a:r>
              <a:t>•  Monitor registered users and contributors.</a:t>
            </a:r>
          </a:p>
          <a:p>
            <a:pPr>
              <a:spcAft>
                <a:spcPts val="700"/>
              </a:spcAft>
              <a:defRPr sz="1320">
                <a:solidFill>
                  <a:srgbClr val="30231D"/>
                </a:solidFill>
                <a:latin typeface="Aptos"/>
              </a:defRPr>
            </a:pPr>
            <a:r>
              <a:t>•  View submitted recipes and check their content.</a:t>
            </a:r>
          </a:p>
          <a:p>
            <a:pPr>
              <a:spcAft>
                <a:spcPts val="700"/>
              </a:spcAft>
              <a:defRPr sz="1320">
                <a:solidFill>
                  <a:srgbClr val="30231D"/>
                </a:solidFill>
                <a:latin typeface="Aptos"/>
              </a:defRPr>
            </a:pPr>
            <a:r>
              <a:t>•  Approve, reject, edit or remove recipes when moderation is required.</a:t>
            </a:r>
          </a:p>
          <a:p>
            <a:pPr>
              <a:spcAft>
                <a:spcPts val="700"/>
              </a:spcAft>
              <a:defRPr sz="1320">
                <a:solidFill>
                  <a:srgbClr val="30231D"/>
                </a:solidFill>
                <a:latin typeface="Aptos"/>
              </a:defRPr>
            </a:pPr>
            <a:r>
              <a:t>•  Monitor ratings, reviews and reported content.</a:t>
            </a:r>
          </a:p>
          <a:p>
            <a:pPr>
              <a:spcAft>
                <a:spcPts val="700"/>
              </a:spcAft>
              <a:defRPr sz="1320">
                <a:solidFill>
                  <a:srgbClr val="30231D"/>
                </a:solidFill>
                <a:latin typeface="Aptos"/>
              </a:defRPr>
            </a:pPr>
            <a:r>
              <a:t>•  Remove inappropriate or duplicate content.</a:t>
            </a:r>
          </a:p>
          <a:p>
            <a:pPr>
              <a:spcAft>
                <a:spcPts val="700"/>
              </a:spcAft>
              <a:defRPr sz="1320">
                <a:solidFill>
                  <a:srgbClr val="30231D"/>
                </a:solidFill>
                <a:latin typeface="Aptos"/>
              </a:defRPr>
            </a:pPr>
            <a:r>
              <a:t>•  View overall recipe and user activity through an Admin Dashboard.</a:t>
            </a:r>
          </a:p>
          <a:p>
            <a:pPr>
              <a:spcAft>
                <a:spcPts val="700"/>
              </a:spcAft>
              <a:defRPr sz="1320">
                <a:solidFill>
                  <a:srgbClr val="30231D"/>
                </a:solidFill>
                <a:latin typeface="Aptos"/>
              </a:defRPr>
            </a:pPr>
            <a:r>
              <a:t>•  Maintain website rules and keep the recipe collection organized.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20840" y="1280160"/>
            <a:ext cx="48006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FE0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95160" y="153619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5B31"/>
                </a:solidFill>
                <a:latin typeface="Aptos"/>
              </a:rPr>
              <a:t>ADMIN DASHBOARD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95160" y="2057400"/>
            <a:ext cx="1920240" cy="822960"/>
          </a:xfrm>
          <a:prstGeom prst="roundRect">
            <a:avLst/>
          </a:prstGeom>
          <a:solidFill>
            <a:srgbClr val="FFF4EB"/>
          </a:solidFill>
          <a:ln>
            <a:solidFill>
              <a:srgbClr val="EFE0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04888" y="2167128"/>
            <a:ext cx="1691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706057"/>
                </a:solidFill>
                <a:latin typeface="Aptos"/>
              </a:rPr>
              <a:t>USERS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04888" y="242316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0231D"/>
                </a:solidFill>
                <a:latin typeface="Aptos"/>
              </a:rPr>
              <a:t>25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057400"/>
            <a:ext cx="1920240" cy="822960"/>
          </a:xfrm>
          <a:prstGeom prst="roundRect">
            <a:avLst/>
          </a:prstGeom>
          <a:solidFill>
            <a:srgbClr val="FFF4EB"/>
          </a:solidFill>
          <a:ln>
            <a:solidFill>
              <a:srgbClr val="EFE0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253728" y="2167128"/>
            <a:ext cx="1691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706057"/>
                </a:solidFill>
                <a:latin typeface="Aptos"/>
              </a:rPr>
              <a:t>RECIPES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3728" y="242316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0231D"/>
                </a:solidFill>
                <a:latin typeface="Aptos"/>
              </a:rPr>
              <a:t>56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95160" y="3108960"/>
            <a:ext cx="1920240" cy="822960"/>
          </a:xfrm>
          <a:prstGeom prst="roundRect">
            <a:avLst/>
          </a:prstGeom>
          <a:solidFill>
            <a:srgbClr val="FFF4EB"/>
          </a:solidFill>
          <a:ln>
            <a:solidFill>
              <a:srgbClr val="EFE0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04888" y="3218688"/>
            <a:ext cx="1691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706057"/>
                </a:solidFill>
                <a:latin typeface="Aptos"/>
              </a:rPr>
              <a:t>REVIEWS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04888" y="347472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0231D"/>
                </a:solidFill>
                <a:latin typeface="Aptos"/>
              </a:rPr>
              <a:t>32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0" y="3108960"/>
            <a:ext cx="1920240" cy="822960"/>
          </a:xfrm>
          <a:prstGeom prst="roundRect">
            <a:avLst/>
          </a:prstGeom>
          <a:solidFill>
            <a:srgbClr val="FFF4EB"/>
          </a:solidFill>
          <a:ln>
            <a:solidFill>
              <a:srgbClr val="EFE0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253728" y="3218688"/>
            <a:ext cx="1691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706057"/>
                </a:solidFill>
                <a:latin typeface="Aptos"/>
              </a:rPr>
              <a:t>SUBMISSIONS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53728" y="347472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0231D"/>
                </a:solidFill>
                <a:latin typeface="Aptos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06057"/>
                </a:solidFill>
                <a:latin typeface="Aptos"/>
              </a:rPr>
              <a:t>THE FOOD RECIPE  •  Project Review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424EBB72-1482-1A82-1075-1EA06896E0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8632" y="201168"/>
            <a:ext cx="5715000" cy="645566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5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30231D"/>
                </a:solidFill>
                <a:latin typeface="Aptos Display"/>
              </a:rPr>
              <a:t>5. Technology Stack &amp; Application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706057"/>
                </a:solidFill>
                <a:latin typeface="Aptos"/>
              </a:rPr>
              <a:t>How the three files work together.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38404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55B31"/>
                </a:solidFill>
                <a:latin typeface="Aptos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FE0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64008" cy="1325880"/>
          </a:xfrm>
          <a:prstGeom prst="rect">
            <a:avLst/>
          </a:prstGeom>
          <a:solidFill>
            <a:srgbClr val="F55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1" y="1499616"/>
            <a:ext cx="29535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0231D"/>
                </a:solidFill>
                <a:latin typeface="Aptos"/>
              </a:rPr>
              <a:t>HTML — 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892807"/>
            <a:ext cx="2953512" cy="713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706057"/>
                </a:solidFill>
                <a:latin typeface="Aptos"/>
              </a:rPr>
              <a:t>Navbar, hero section, search forms, recipe sections, share form, modals and footer.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37160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FE0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80560" y="1371600"/>
            <a:ext cx="64008" cy="1325880"/>
          </a:xfrm>
          <a:prstGeom prst="rect">
            <a:avLst/>
          </a:prstGeom>
          <a:solidFill>
            <a:srgbClr val="417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45152" y="1499616"/>
            <a:ext cx="29535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0231D"/>
                </a:solidFill>
                <a:latin typeface="Aptos"/>
              </a:rPr>
              <a:t>CSS — Presentation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1892807"/>
            <a:ext cx="2953512" cy="713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706057"/>
                </a:solidFill>
                <a:latin typeface="Aptos"/>
              </a:rPr>
              <a:t>Colours, typography, Grid/Flexbox, cards, buttons, responsive layout, modals and dark mode.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37160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FE0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321040" y="1371600"/>
            <a:ext cx="64008" cy="1325880"/>
          </a:xfrm>
          <a:prstGeom prst="rect">
            <a:avLst/>
          </a:prstGeom>
          <a:solidFill>
            <a:srgbClr val="6F49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85632" y="1499616"/>
            <a:ext cx="29535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0231D"/>
                </a:solidFill>
                <a:latin typeface="Aptos"/>
              </a:rPr>
              <a:t>JavaScript — Behaviour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85632" y="1892807"/>
            <a:ext cx="2953512" cy="713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706057"/>
                </a:solidFill>
                <a:latin typeface="Aptos"/>
              </a:rPr>
              <a:t>Search, filters, favourites, ratings, reviews, login, recipe submission, DOM updates and storage.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0632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0231D"/>
                </a:solidFill>
                <a:latin typeface="Aptos"/>
              </a:rPr>
              <a:t>Supporting browser features used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566160"/>
            <a:ext cx="51663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FE0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58368" y="3566160"/>
            <a:ext cx="64008" cy="713232"/>
          </a:xfrm>
          <a:prstGeom prst="rect">
            <a:avLst/>
          </a:prstGeom>
          <a:solidFill>
            <a:srgbClr val="F55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59" y="3694176"/>
            <a:ext cx="4873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0231D"/>
                </a:solidFill>
                <a:latin typeface="Aptos"/>
              </a:rPr>
              <a:t>DOM Manipulation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59" y="4087368"/>
            <a:ext cx="4873752" cy="100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706057"/>
                </a:solidFill>
                <a:latin typeface="Aptos"/>
              </a:rPr>
              <a:t>JavaScript reads and updates HTML elements dynamically.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0488" y="3566160"/>
            <a:ext cx="51663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FE0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190488" y="3566160"/>
            <a:ext cx="64008" cy="713232"/>
          </a:xfrm>
          <a:prstGeom prst="rect">
            <a:avLst/>
          </a:prstGeom>
          <a:solidFill>
            <a:srgbClr val="417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55079" y="3694176"/>
            <a:ext cx="4873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0231D"/>
                </a:solidFill>
                <a:latin typeface="Aptos"/>
              </a:rPr>
              <a:t>Event Listeners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79" y="4087368"/>
            <a:ext cx="4873752" cy="100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706057"/>
                </a:solidFill>
                <a:latin typeface="Aptos"/>
              </a:rPr>
              <a:t>Clicks and form submissions trigger functions.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434840"/>
            <a:ext cx="51663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FE0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58368" y="4434840"/>
            <a:ext cx="64008" cy="713232"/>
          </a:xfrm>
          <a:prstGeom prst="rect">
            <a:avLst/>
          </a:prstGeom>
          <a:solidFill>
            <a:srgbClr val="6F49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2959" y="4562855"/>
            <a:ext cx="4873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0231D"/>
                </a:solidFill>
                <a:latin typeface="Aptos"/>
              </a:rPr>
              <a:t>Array Methods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59" y="4956048"/>
            <a:ext cx="4873752" cy="100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706057"/>
                </a:solidFill>
                <a:latin typeface="Aptos"/>
              </a:rPr>
              <a:t>Recipe data is searched and filtered using array operations.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90488" y="4434840"/>
            <a:ext cx="51663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FE0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190488" y="4434840"/>
            <a:ext cx="64008" cy="713232"/>
          </a:xfrm>
          <a:prstGeom prst="rect">
            <a:avLst/>
          </a:prstGeom>
          <a:solidFill>
            <a:srgbClr val="F55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55079" y="4562855"/>
            <a:ext cx="4873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0231D"/>
                </a:solidFill>
                <a:latin typeface="Aptos"/>
              </a:rPr>
              <a:t>FileReader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79" y="4956048"/>
            <a:ext cx="4873752" cy="100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706057"/>
                </a:solidFill>
                <a:latin typeface="Aptos"/>
              </a:rPr>
              <a:t>Local recipe images can be read and displayed in the browser.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303520"/>
            <a:ext cx="51663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FE0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58368" y="5303520"/>
            <a:ext cx="64008" cy="713232"/>
          </a:xfrm>
          <a:prstGeom prst="rect">
            <a:avLst/>
          </a:prstGeom>
          <a:solidFill>
            <a:srgbClr val="417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22959" y="5431536"/>
            <a:ext cx="4873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0231D"/>
                </a:solidFill>
                <a:latin typeface="Aptos"/>
              </a:rPr>
              <a:t>Local Storage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59" y="5824728"/>
            <a:ext cx="4873752" cy="100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706057"/>
                </a:solidFill>
                <a:latin typeface="Aptos"/>
              </a:rPr>
              <a:t>Login state and other client-side data can persist in the browser.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06057"/>
                </a:solidFill>
                <a:latin typeface="Aptos"/>
              </a:rPr>
              <a:t>THE FOOD RECIPE  •  Project Review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5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30231D"/>
                </a:solidFill>
                <a:latin typeface="Aptos Display"/>
              </a:rPr>
              <a:t>6. HTML &amp; CSS Used in the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706057"/>
                </a:solidFill>
                <a:latin typeface="Aptos"/>
              </a:rPr>
              <a:t>The frontend structure and visual design.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38404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55B31"/>
                </a:solidFill>
                <a:latin typeface="Aptos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5440680" cy="2148840"/>
          </a:xfrm>
          <a:prstGeom prst="roundRect">
            <a:avLst/>
          </a:prstGeom>
          <a:solidFill>
            <a:srgbClr val="231E1C"/>
          </a:solidFill>
          <a:ln>
            <a:solidFill>
              <a:srgbClr val="4B3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1389888"/>
            <a:ext cx="5166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BEA0"/>
                </a:solidFill>
                <a:latin typeface="Aptos"/>
              </a:rPr>
              <a:t>HTML example — navigation + login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655064"/>
            <a:ext cx="5111496" cy="1709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19">
                <a:solidFill>
                  <a:srgbClr val="F5EEE9"/>
                </a:solidFill>
                <a:latin typeface="Consolas"/>
              </a:rPr>
              <a:t>&lt;nav&gt;
  &lt;a href="#home"&gt;Home&lt;/a&gt;
  &lt;a href="#recipes"&gt;Recipes&lt;/a&gt;
  &lt;a href="#share"&gt;Share Recipe&lt;/a&gt;
  &lt;button id="loginBtn"&gt;🔐 Login&lt;/button&gt;
&lt;/nav&gt;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25880"/>
            <a:ext cx="5349240" cy="2148840"/>
          </a:xfrm>
          <a:prstGeom prst="roundRect">
            <a:avLst/>
          </a:prstGeom>
          <a:solidFill>
            <a:srgbClr val="231E1C"/>
          </a:solidFill>
          <a:ln>
            <a:solidFill>
              <a:srgbClr val="4B3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82512" y="1389888"/>
            <a:ext cx="5074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BEA0"/>
                </a:solidFill>
                <a:latin typeface="Aptos"/>
              </a:rPr>
              <a:t>CSS example — responsive Grid + hover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1655064"/>
            <a:ext cx="5020055" cy="1709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19">
                <a:solidFill>
                  <a:srgbClr val="F5EEE9"/>
                </a:solidFill>
                <a:latin typeface="Consolas"/>
              </a:rPr>
              <a:t>.recipe-grid {
  display: grid;
  grid-template-columns:
    repeat(auto-fit, minmax(280px, 1fr));
  gap: 28px;
}
.recipe-card:hover {
  transform: translateY(-7px);
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49039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0231D"/>
                </a:solidFill>
                <a:latin typeface="Aptos"/>
              </a:rPr>
              <a:t>Important HTML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206240"/>
            <a:ext cx="5166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30">
                <a:solidFill>
                  <a:srgbClr val="30231D"/>
                </a:solidFill>
                <a:latin typeface="Aptos"/>
              </a:defRPr>
            </a:pPr>
            <a:r>
              <a:t>•  Navigation bar and page links</a:t>
            </a:r>
          </a:p>
          <a:p>
            <a:pPr>
              <a:spcAft>
                <a:spcPts val="700"/>
              </a:spcAft>
              <a:defRPr sz="1230">
                <a:solidFill>
                  <a:srgbClr val="30231D"/>
                </a:solidFill>
                <a:latin typeface="Aptos"/>
              </a:defRPr>
            </a:pPr>
            <a:r>
              <a:t>•  Hero / welcome section</a:t>
            </a:r>
          </a:p>
          <a:p>
            <a:pPr>
              <a:spcAft>
                <a:spcPts val="700"/>
              </a:spcAft>
              <a:defRPr sz="1230">
                <a:solidFill>
                  <a:srgbClr val="30231D"/>
                </a:solidFill>
                <a:latin typeface="Aptos"/>
              </a:defRPr>
            </a:pPr>
            <a:r>
              <a:t>•  Search and ingredient forms</a:t>
            </a:r>
          </a:p>
          <a:p>
            <a:pPr>
              <a:spcAft>
                <a:spcPts val="700"/>
              </a:spcAft>
              <a:defRPr sz="1230">
                <a:solidFill>
                  <a:srgbClr val="30231D"/>
                </a:solidFill>
                <a:latin typeface="Aptos"/>
              </a:defRPr>
            </a:pPr>
            <a:r>
              <a:t>•  Craving and category filters</a:t>
            </a:r>
          </a:p>
          <a:p>
            <a:pPr>
              <a:spcAft>
                <a:spcPts val="700"/>
              </a:spcAft>
              <a:defRPr sz="1230">
                <a:solidFill>
                  <a:srgbClr val="30231D"/>
                </a:solidFill>
                <a:latin typeface="Aptos"/>
              </a:defRPr>
            </a:pPr>
            <a:r>
              <a:t>•  Recipe cards and recipe modal</a:t>
            </a:r>
          </a:p>
          <a:p>
            <a:pPr>
              <a:spcAft>
                <a:spcPts val="700"/>
              </a:spcAft>
              <a:defRPr sz="1230">
                <a:solidFill>
                  <a:srgbClr val="30231D"/>
                </a:solidFill>
                <a:latin typeface="Aptos"/>
              </a:defRPr>
            </a:pPr>
            <a:r>
              <a:t>•  Share recipe form, favourites and footer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3749039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0231D"/>
                </a:solidFill>
                <a:latin typeface="Aptos"/>
              </a:rPr>
              <a:t>Important CSS techniques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4206240"/>
            <a:ext cx="5166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30">
                <a:solidFill>
                  <a:srgbClr val="30231D"/>
                </a:solidFill>
                <a:latin typeface="Aptos"/>
              </a:defRPr>
            </a:pPr>
            <a:r>
              <a:t>•  CSS Grid for recipe cards</a:t>
            </a:r>
          </a:p>
          <a:p>
            <a:pPr>
              <a:spcAft>
                <a:spcPts val="700"/>
              </a:spcAft>
              <a:defRPr sz="1230">
                <a:solidFill>
                  <a:srgbClr val="30231D"/>
                </a:solidFill>
                <a:latin typeface="Aptos"/>
              </a:defRPr>
            </a:pPr>
            <a:r>
              <a:t>•  Flexbox for aligned controls</a:t>
            </a:r>
          </a:p>
          <a:p>
            <a:pPr>
              <a:spcAft>
                <a:spcPts val="700"/>
              </a:spcAft>
              <a:defRPr sz="1230">
                <a:solidFill>
                  <a:srgbClr val="30231D"/>
                </a:solidFill>
                <a:latin typeface="Aptos"/>
              </a:defRPr>
            </a:pPr>
            <a:r>
              <a:t>•  Rounded cards, shadows and hover effects</a:t>
            </a:r>
          </a:p>
          <a:p>
            <a:pPr>
              <a:spcAft>
                <a:spcPts val="700"/>
              </a:spcAft>
              <a:defRPr sz="1230">
                <a:solidFill>
                  <a:srgbClr val="30231D"/>
                </a:solidFill>
                <a:latin typeface="Aptos"/>
              </a:defRPr>
            </a:pPr>
            <a:r>
              <a:t>•  Responsive layout using auto-fit</a:t>
            </a:r>
          </a:p>
          <a:p>
            <a:pPr>
              <a:spcAft>
                <a:spcPts val="700"/>
              </a:spcAft>
              <a:defRPr sz="1230">
                <a:solidFill>
                  <a:srgbClr val="30231D"/>
                </a:solidFill>
                <a:latin typeface="Aptos"/>
              </a:defRPr>
            </a:pPr>
            <a:r>
              <a:t>•  Modal styling and dark-mode styles</a:t>
            </a:r>
          </a:p>
          <a:p>
            <a:pPr>
              <a:spcAft>
                <a:spcPts val="700"/>
              </a:spcAft>
              <a:defRPr sz="1230">
                <a:solidFill>
                  <a:srgbClr val="30231D"/>
                </a:solidFill>
                <a:latin typeface="Aptos"/>
              </a:defRPr>
            </a:pPr>
            <a:r>
              <a:t>•  Consistent food-themed visual language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dirty="0">
                <a:solidFill>
                  <a:srgbClr val="706057"/>
                </a:solidFill>
                <a:latin typeface="Aptos"/>
              </a:rPr>
              <a:t>THE FOOD RECIPE  •  Project Review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5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30231D"/>
                </a:solidFill>
                <a:latin typeface="Aptos Display"/>
              </a:rPr>
              <a:t>7. JavaScript, Login &amp; Data Handling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706057"/>
                </a:solidFill>
                <a:latin typeface="Aptos"/>
              </a:rPr>
              <a:t>JavaScript connects the interface to the application's features.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38404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55B31"/>
                </a:solidFill>
                <a:latin typeface="Aptos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80160"/>
            <a:ext cx="6812280" cy="2606040"/>
          </a:xfrm>
          <a:prstGeom prst="roundRect">
            <a:avLst/>
          </a:prstGeom>
          <a:solidFill>
            <a:srgbClr val="231E1C"/>
          </a:solidFill>
          <a:ln>
            <a:solidFill>
              <a:srgbClr val="4B3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1344168"/>
            <a:ext cx="6537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BEA0"/>
                </a:solidFill>
                <a:latin typeface="Aptos"/>
              </a:rPr>
              <a:t>JavaScript example — search + access control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609343"/>
            <a:ext cx="6483096" cy="21671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19">
                <a:solidFill>
                  <a:srgbClr val="F5EEE9"/>
                </a:solidFill>
                <a:latin typeface="Consolas"/>
              </a:rPr>
              <a:t>function searchRecipes() {
  if (!requireLogin("Please login first...")) return;
  const search =
    document.getElementById("searchInput")
      .value.toLowerCase().trim();
  const filtered = recipes.filter(recipe =&gt;
    recipe.name.toLowerCase().includes(search) ||
    recipe.category.toLowerCase().includes(search)
  );
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280160"/>
            <a:ext cx="3931920" cy="2606040"/>
          </a:xfrm>
          <a:prstGeom prst="roundRect">
            <a:avLst/>
          </a:prstGeom>
          <a:solidFill>
            <a:srgbClr val="231E1C"/>
          </a:solidFill>
          <a:ln>
            <a:solidFill>
              <a:srgbClr val="4B3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99831" y="134416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BEA0"/>
                </a:solidFill>
                <a:latin typeface="Aptos"/>
              </a:rPr>
              <a:t>Local Storage — login state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9831" y="1609343"/>
            <a:ext cx="3602736" cy="21671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19">
                <a:solidFill>
                  <a:srgbClr val="F5EEE9"/>
                </a:solidFill>
                <a:latin typeface="Consolas"/>
              </a:rPr>
              <a:t>localStorage.setItem(
  "foodRecipeLoggedIn", "true"
);
localStorage.setItem(
  "foodRecipeUsername", username
);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062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0231D"/>
                </a:solidFill>
                <a:latin typeface="Aptos"/>
              </a:rPr>
              <a:t>Main JavaScript responsibilities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617720"/>
            <a:ext cx="53492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80">
                <a:solidFill>
                  <a:srgbClr val="30231D"/>
                </a:solidFill>
                <a:latin typeface="Aptos"/>
              </a:defRPr>
            </a:pPr>
            <a:r>
              <a:t>•  Store recipe data in JavaScript arrays/objects</a:t>
            </a:r>
          </a:p>
          <a:p>
            <a:pPr>
              <a:spcAft>
                <a:spcPts val="700"/>
              </a:spcAft>
              <a:defRPr sz="1180">
                <a:solidFill>
                  <a:srgbClr val="30231D"/>
                </a:solidFill>
                <a:latin typeface="Aptos"/>
              </a:defRPr>
            </a:pPr>
            <a:r>
              <a:t>•  Filter and search recipes dynamically</a:t>
            </a:r>
          </a:p>
          <a:p>
            <a:pPr>
              <a:spcAft>
                <a:spcPts val="700"/>
              </a:spcAft>
              <a:defRPr sz="1180">
                <a:solidFill>
                  <a:srgbClr val="30231D"/>
                </a:solidFill>
                <a:latin typeface="Aptos"/>
              </a:defRPr>
            </a:pPr>
            <a:r>
              <a:t>•  Open recipe details and update the DOM</a:t>
            </a:r>
          </a:p>
          <a:p>
            <a:pPr>
              <a:spcAft>
                <a:spcPts val="700"/>
              </a:spcAft>
              <a:defRPr sz="1180">
                <a:solidFill>
                  <a:srgbClr val="30231D"/>
                </a:solidFill>
                <a:latin typeface="Aptos"/>
              </a:defRPr>
            </a:pPr>
            <a:r>
              <a:t>•  Handle favourites, ratings and reviews</a:t>
            </a:r>
          </a:p>
          <a:p>
            <a:pPr>
              <a:spcAft>
                <a:spcPts val="700"/>
              </a:spcAft>
              <a:defRPr sz="1180">
                <a:solidFill>
                  <a:srgbClr val="30231D"/>
                </a:solidFill>
                <a:latin typeface="Aptos"/>
              </a:defRPr>
            </a:pPr>
            <a:r>
              <a:t>•  Handle login/logout and protected 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206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0231D"/>
                </a:solidFill>
                <a:latin typeface="Aptos"/>
              </a:rPr>
              <a:t>Client-side image handling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4617720"/>
            <a:ext cx="51206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80">
                <a:solidFill>
                  <a:srgbClr val="30231D"/>
                </a:solidFill>
                <a:latin typeface="Aptos"/>
              </a:defRPr>
            </a:pPr>
            <a:r>
              <a:t>•  FileReader reads a selected local image</a:t>
            </a:r>
          </a:p>
          <a:p>
            <a:pPr>
              <a:spcAft>
                <a:spcPts val="700"/>
              </a:spcAft>
              <a:defRPr sz="1180">
                <a:solidFill>
                  <a:srgbClr val="30231D"/>
                </a:solidFill>
                <a:latin typeface="Aptos"/>
              </a:defRPr>
            </a:pPr>
            <a:r>
              <a:t>•  Image data can be previewed before/after submission</a:t>
            </a:r>
          </a:p>
          <a:p>
            <a:pPr>
              <a:spcAft>
                <a:spcPts val="700"/>
              </a:spcAft>
              <a:defRPr sz="1180">
                <a:solidFill>
                  <a:srgbClr val="30231D"/>
                </a:solidFill>
                <a:latin typeface="Aptos"/>
              </a:defRPr>
            </a:pPr>
            <a:r>
              <a:t>•  No external image URL is required for the share form</a:t>
            </a:r>
          </a:p>
          <a:p>
            <a:pPr>
              <a:spcAft>
                <a:spcPts val="700"/>
              </a:spcAft>
              <a:defRPr sz="1180">
                <a:solidFill>
                  <a:srgbClr val="30231D"/>
                </a:solidFill>
                <a:latin typeface="Aptos"/>
              </a:defRPr>
            </a:pPr>
            <a:r>
              <a:t>•  Production version: server/cloud storage would be preferable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06057"/>
                </a:solidFill>
                <a:latin typeface="Aptos"/>
              </a:rPr>
              <a:t>THE FOOD RECIPE  •  Project Review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5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30231D"/>
                </a:solidFill>
                <a:latin typeface="Aptos Display"/>
              </a:rPr>
              <a:t>8. Features Added to the Food Recipe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706057"/>
                </a:solidFill>
                <a:latin typeface="Aptos"/>
              </a:rPr>
              <a:t>The project combines discovery, personalization and community features.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38404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55B31"/>
                </a:solidFill>
                <a:latin typeface="Aptos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534924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EFE0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325880"/>
            <a:ext cx="64008" cy="786384"/>
          </a:xfrm>
          <a:prstGeom prst="rect">
            <a:avLst/>
          </a:prstGeom>
          <a:solidFill>
            <a:srgbClr val="F55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" y="1453895"/>
            <a:ext cx="505663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0231D"/>
                </a:solidFill>
                <a:latin typeface="Aptos"/>
              </a:rPr>
              <a:t>🔎 Smart 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847088"/>
            <a:ext cx="5056631" cy="173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706057"/>
                </a:solidFill>
                <a:latin typeface="Aptos"/>
              </a:rPr>
              <a:t>Search recipes using names, categories and ingredients.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325880"/>
            <a:ext cx="534924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EFE0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325880"/>
            <a:ext cx="64008" cy="786384"/>
          </a:xfrm>
          <a:prstGeom prst="rect">
            <a:avLst/>
          </a:prstGeom>
          <a:solidFill>
            <a:srgbClr val="417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28232" y="1453895"/>
            <a:ext cx="505663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0231D"/>
                </a:solidFill>
                <a:latin typeface="Aptos"/>
              </a:rPr>
              <a:t>🥕 Ingredient Finder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1847088"/>
            <a:ext cx="5056631" cy="173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706057"/>
                </a:solidFill>
                <a:latin typeface="Aptos"/>
              </a:rPr>
              <a:t>Enter available ingredients and find matching recipes.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2267712"/>
            <a:ext cx="534924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EFE0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94360" y="2267712"/>
            <a:ext cx="64008" cy="786384"/>
          </a:xfrm>
          <a:prstGeom prst="rect">
            <a:avLst/>
          </a:prstGeom>
          <a:solidFill>
            <a:srgbClr val="6F49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8952" y="2395728"/>
            <a:ext cx="505663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0231D"/>
                </a:solidFill>
                <a:latin typeface="Aptos"/>
              </a:rPr>
              <a:t>😋 Craving Filters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" y="2788920"/>
            <a:ext cx="5056631" cy="173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706057"/>
                </a:solidFill>
                <a:latin typeface="Aptos"/>
              </a:rPr>
              <a:t>Spicy, Cheesy, Sweet and Surprise Me options.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2267712"/>
            <a:ext cx="534924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EFE0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63640" y="2267712"/>
            <a:ext cx="64008" cy="786384"/>
          </a:xfrm>
          <a:prstGeom prst="rect">
            <a:avLst/>
          </a:prstGeom>
          <a:solidFill>
            <a:srgbClr val="F55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28232" y="2395728"/>
            <a:ext cx="505663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0231D"/>
                </a:solidFill>
                <a:latin typeface="Aptos"/>
              </a:rPr>
              <a:t>🍽️ Categories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2" y="2788920"/>
            <a:ext cx="5056631" cy="173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706057"/>
                </a:solidFill>
                <a:latin typeface="Aptos"/>
              </a:rPr>
              <a:t>Indian, Italian, Fast Food, Desserts and Healthy.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3209544"/>
            <a:ext cx="534924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EFE0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94360" y="3209544"/>
            <a:ext cx="64008" cy="786384"/>
          </a:xfrm>
          <a:prstGeom prst="rect">
            <a:avLst/>
          </a:prstGeom>
          <a:solidFill>
            <a:srgbClr val="417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58952" y="3337560"/>
            <a:ext cx="505663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0231D"/>
                </a:solidFill>
                <a:latin typeface="Aptos"/>
              </a:rPr>
              <a:t>❤️ Favourites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3730752"/>
            <a:ext cx="5056631" cy="173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706057"/>
                </a:solidFill>
                <a:latin typeface="Aptos"/>
              </a:rPr>
              <a:t>Save recipes and view the favourite collection.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3209544"/>
            <a:ext cx="534924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EFE0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63640" y="3209544"/>
            <a:ext cx="64008" cy="786384"/>
          </a:xfrm>
          <a:prstGeom prst="rect">
            <a:avLst/>
          </a:prstGeom>
          <a:solidFill>
            <a:srgbClr val="F55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28232" y="3337560"/>
            <a:ext cx="505663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0231D"/>
                </a:solidFill>
                <a:latin typeface="Aptos"/>
              </a:rPr>
              <a:t>⭐ Ratings &amp; Reviews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28232" y="3730752"/>
            <a:ext cx="5056631" cy="173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706057"/>
                </a:solidFill>
                <a:latin typeface="Aptos"/>
              </a:rPr>
              <a:t>Rate recipes and write feedback.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" y="4151376"/>
            <a:ext cx="534924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EFE0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94360" y="4151376"/>
            <a:ext cx="64008" cy="786384"/>
          </a:xfrm>
          <a:prstGeom prst="rect">
            <a:avLst/>
          </a:prstGeom>
          <a:solidFill>
            <a:srgbClr val="417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58952" y="4279392"/>
            <a:ext cx="505663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0231D"/>
                </a:solidFill>
                <a:latin typeface="Aptos"/>
              </a:rPr>
              <a:t>📤 Share Recipe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2" y="4672584"/>
            <a:ext cx="5056631" cy="173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706057"/>
                </a:solidFill>
                <a:latin typeface="Aptos"/>
              </a:rPr>
              <a:t>Submit a recipe with ingredients, instructions and image.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63640" y="4151376"/>
            <a:ext cx="534924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EFE0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263640" y="4151376"/>
            <a:ext cx="64008" cy="786384"/>
          </a:xfrm>
          <a:prstGeom prst="rect">
            <a:avLst/>
          </a:prstGeom>
          <a:solidFill>
            <a:srgbClr val="6F49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28232" y="4279392"/>
            <a:ext cx="505663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0231D"/>
                </a:solidFill>
                <a:latin typeface="Aptos"/>
              </a:rPr>
              <a:t>🔐 Login Access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28232" y="4672584"/>
            <a:ext cx="5056631" cy="173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706057"/>
                </a:solidFill>
                <a:latin typeface="Aptos"/>
              </a:rPr>
              <a:t>Login controls access to protected website actions.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4360" y="5093208"/>
            <a:ext cx="534924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EFE0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94360" y="5093208"/>
            <a:ext cx="64008" cy="786384"/>
          </a:xfrm>
          <a:prstGeom prst="rect">
            <a:avLst/>
          </a:prstGeom>
          <a:solidFill>
            <a:srgbClr val="F55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58952" y="5221224"/>
            <a:ext cx="505663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0231D"/>
                </a:solidFill>
                <a:latin typeface="Aptos"/>
              </a:rPr>
              <a:t>🌙 Dark Mode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8952" y="5614416"/>
            <a:ext cx="5056631" cy="173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706057"/>
                </a:solidFill>
                <a:latin typeface="Aptos"/>
              </a:rPr>
              <a:t>Switch the interface to a darker theme.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63640" y="5093208"/>
            <a:ext cx="534924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EFE0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263640" y="5093208"/>
            <a:ext cx="64008" cy="786384"/>
          </a:xfrm>
          <a:prstGeom prst="rect">
            <a:avLst/>
          </a:prstGeom>
          <a:solidFill>
            <a:srgbClr val="417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28232" y="5221224"/>
            <a:ext cx="505663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0231D"/>
                </a:solidFill>
                <a:latin typeface="Aptos"/>
              </a:rPr>
              <a:t>🧑‍🍳 Community Recipes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28232" y="5614416"/>
            <a:ext cx="5056631" cy="173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706057"/>
                </a:solidFill>
                <a:latin typeface="Aptos"/>
              </a:rPr>
              <a:t>User-submitted recipes appear as community content.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06057"/>
                </a:solidFill>
                <a:latin typeface="Aptos"/>
              </a:rPr>
              <a:t>THE FOOD RECIPE  •  Project Review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5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30231D"/>
                </a:solidFill>
                <a:latin typeface="Aptos Display"/>
              </a:rPr>
              <a:t>9. Website Output &amp; User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706057"/>
                </a:solidFill>
                <a:latin typeface="Aptos"/>
              </a:rPr>
              <a:t>Screenshots from the Food Recipe project.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38404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55B31"/>
                </a:solidFill>
                <a:latin typeface="Aptos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80160"/>
            <a:ext cx="365760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FE0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46180" y="1911096"/>
            <a:ext cx="3007655" cy="301259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564184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80" b="1">
                <a:solidFill>
                  <a:srgbClr val="30231D"/>
                </a:solidFill>
                <a:latin typeface="Aptos"/>
              </a:rPr>
              <a:t>Home page • search • craving • categories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1280160"/>
            <a:ext cx="365760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FE0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407407" y="1651820"/>
            <a:ext cx="3511296" cy="36772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407407" y="564184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80" b="1">
                <a:solidFill>
                  <a:srgbClr val="30231D"/>
                </a:solidFill>
                <a:latin typeface="Aptos"/>
              </a:rPr>
              <a:t>Recipe details • ingredients • preparation • review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9016" y="1280160"/>
            <a:ext cx="356616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FE0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47431" y="1911096"/>
            <a:ext cx="2929329" cy="315467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220456" y="5641848"/>
            <a:ext cx="3383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80" b="1">
                <a:solidFill>
                  <a:srgbClr val="30231D"/>
                </a:solidFill>
                <a:latin typeface="Aptos"/>
              </a:rPr>
              <a:t>Ingredient finder • matching recipes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23620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06057"/>
                </a:solidFill>
                <a:latin typeface="Aptos"/>
              </a:rPr>
              <a:t>The screenshots show the actual project interface: recipe cards, interactive recipe details, ratings/reviews and ingredient-based discovery.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06057"/>
                </a:solidFill>
                <a:latin typeface="Aptos"/>
              </a:rPr>
              <a:t>THE FOOD RECIPE  •  Project Review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F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5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30231D"/>
                </a:solidFill>
                <a:latin typeface="Aptos Display"/>
              </a:rPr>
              <a:t>10. Impact, Limitations &amp;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4124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706057"/>
                </a:solidFill>
                <a:latin typeface="Aptos"/>
              </a:rPr>
              <a:t>What the project achieves and how it can grow into a full application.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38404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55B31"/>
                </a:solidFill>
                <a:latin typeface="Apto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80160"/>
            <a:ext cx="35204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FE0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280160"/>
            <a:ext cx="64008" cy="1874519"/>
          </a:xfrm>
          <a:prstGeom prst="rect">
            <a:avLst/>
          </a:prstGeom>
          <a:solidFill>
            <a:srgbClr val="F55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" y="1408176"/>
            <a:ext cx="32278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0231D"/>
                </a:solidFill>
                <a:latin typeface="Aptos"/>
              </a:rPr>
              <a:t>How it helps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801367"/>
            <a:ext cx="3227832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706057"/>
                </a:solidFill>
                <a:latin typeface="Aptos"/>
              </a:rPr>
              <a:t>• Saves time while finding recipes
• Makes recipe discovery visual and organized
• Supports ingredient-based cooking
• Encourages sharing and community feedback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280160"/>
            <a:ext cx="35204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FE0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15968" y="1280160"/>
            <a:ext cx="64008" cy="1874519"/>
          </a:xfrm>
          <a:prstGeom prst="rect">
            <a:avLst/>
          </a:prstGeom>
          <a:solidFill>
            <a:srgbClr val="417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80559" y="1408176"/>
            <a:ext cx="32278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0231D"/>
                </a:solidFill>
                <a:latin typeface="Aptos"/>
              </a:rPr>
              <a:t>Current technical 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59" y="1801367"/>
            <a:ext cx="3227832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706057"/>
                </a:solidFill>
                <a:latin typeface="Aptos"/>
              </a:rPr>
              <a:t>• Client-side HTML/CSS/JavaScript
• Browser-side Local Storage
• Dynamic DOM updates
• Local image preview/handling
• Frontend login/access control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37575" y="1280160"/>
            <a:ext cx="35204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FE0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37575" y="1280160"/>
            <a:ext cx="64008" cy="1874519"/>
          </a:xfrm>
          <a:prstGeom prst="rect">
            <a:avLst/>
          </a:prstGeom>
          <a:solidFill>
            <a:srgbClr val="6F49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02167" y="1408176"/>
            <a:ext cx="32278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0231D"/>
                </a:solidFill>
                <a:latin typeface="Aptos"/>
              </a:rPr>
              <a:t>Future enhancements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2167" y="1801367"/>
            <a:ext cx="3227832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706057"/>
                </a:solidFill>
                <a:latin typeface="Aptos"/>
              </a:rPr>
              <a:t>• Backend + database
• Centralized Admin Dashboard
• Secure authentication
• Cloud image storage
• Multi-device user activity
• Analytics and notifications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204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0231D"/>
                </a:solidFill>
                <a:latin typeface="Aptos"/>
              </a:rPr>
              <a:t>Final project flow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160520"/>
            <a:ext cx="1874519" cy="594360"/>
          </a:xfrm>
          <a:prstGeom prst="roundRect">
            <a:avLst/>
          </a:prstGeom>
          <a:solidFill>
            <a:srgbClr val="FFF4EB"/>
          </a:solidFill>
          <a:ln>
            <a:solidFill>
              <a:srgbClr val="EFE0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4325112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30231D"/>
                </a:solidFill>
                <a:latin typeface="Aptos"/>
              </a:rPr>
              <a:t>User Login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62072" y="4160520"/>
            <a:ext cx="1874519" cy="594360"/>
          </a:xfrm>
          <a:prstGeom prst="roundRect">
            <a:avLst/>
          </a:prstGeom>
          <a:solidFill>
            <a:srgbClr val="FFF4EB"/>
          </a:solidFill>
          <a:ln>
            <a:solidFill>
              <a:srgbClr val="EFE0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907791" y="4325112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30231D"/>
                </a:solidFill>
                <a:latin typeface="Aptos"/>
              </a:rPr>
              <a:t>Discover / Search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38344" y="4160520"/>
            <a:ext cx="1874519" cy="594360"/>
          </a:xfrm>
          <a:prstGeom prst="roundRect">
            <a:avLst/>
          </a:prstGeom>
          <a:solidFill>
            <a:srgbClr val="FFF4EB"/>
          </a:solidFill>
          <a:ln>
            <a:solidFill>
              <a:srgbClr val="EFE0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84064" y="4325112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30231D"/>
                </a:solidFill>
                <a:latin typeface="Aptos"/>
              </a:rPr>
              <a:t>View Recipe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14616" y="4160520"/>
            <a:ext cx="1874519" cy="594360"/>
          </a:xfrm>
          <a:prstGeom prst="roundRect">
            <a:avLst/>
          </a:prstGeom>
          <a:solidFill>
            <a:srgbClr val="FFF4EB"/>
          </a:solidFill>
          <a:ln>
            <a:solidFill>
              <a:srgbClr val="EFE0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260336" y="4325112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30231D"/>
                </a:solidFill>
                <a:latin typeface="Aptos"/>
              </a:rPr>
              <a:t>Favourite / Review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90888" y="4160520"/>
            <a:ext cx="1874519" cy="594360"/>
          </a:xfrm>
          <a:prstGeom prst="roundRect">
            <a:avLst/>
          </a:prstGeom>
          <a:solidFill>
            <a:srgbClr val="FFF4EB"/>
          </a:solidFill>
          <a:ln>
            <a:solidFill>
              <a:srgbClr val="EFE0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436608" y="4325112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30231D"/>
                </a:solidFill>
                <a:latin typeface="Aptos"/>
              </a:rPr>
              <a:t>Share Recipe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516636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30231D"/>
                </a:solidFill>
                <a:latin typeface="Aptos"/>
              </a:rPr>
              <a:t>Conclusion: The Food Recipe project is a user-friendly frontend application that combines recipe discovery, personalization, community contribution and interactive JavaScript functionality in one website.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5806440"/>
            <a:ext cx="108813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dirty="0">
                <a:solidFill>
                  <a:srgbClr val="F55B31"/>
                </a:solidFill>
                <a:latin typeface="Aptos"/>
              </a:rPr>
              <a:t>Thank You 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06057"/>
                </a:solidFill>
                <a:latin typeface="Aptos"/>
              </a:rPr>
              <a:t>THE FOOD RECIPE  •  Project 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1439</Words>
  <Application>Microsoft Office PowerPoint</Application>
  <PresentationFormat>Widescreen</PresentationFormat>
  <Paragraphs>190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Jakkana Manjula</dc:creator>
  <cp:keywords/>
  <dc:description>generated using python-pptx</dc:description>
  <cp:lastModifiedBy>Jakkana Manjula</cp:lastModifiedBy>
  <cp:revision>3</cp:revision>
  <dcterms:created xsi:type="dcterms:W3CDTF">2013-01-27T09:14:16Z</dcterms:created>
  <dcterms:modified xsi:type="dcterms:W3CDTF">2026-09-24T15:37:16Z</dcterms:modified>
  <cp:category/>
</cp:coreProperties>
</file>